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(BRL 000s)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Jan-17</c:v>
                  </c:pt>
                  <c:pt idx="1">
                    <c:v>Feb-17</c:v>
                  </c:pt>
                  <c:pt idx="2">
                    <c:v>Mar-17</c:v>
                  </c:pt>
                  <c:pt idx="3">
                    <c:v>Apr-17</c:v>
                  </c:pt>
                  <c:pt idx="4">
                    <c:v>May-17</c:v>
                  </c:pt>
                  <c:pt idx="5">
                    <c:v>Jun-17</c:v>
                  </c:pt>
                  <c:pt idx="6">
                    <c:v>Jul-17</c:v>
                  </c:pt>
                  <c:pt idx="7">
                    <c:v>Aug-17</c:v>
                  </c:pt>
                  <c:pt idx="8">
                    <c:v>Sep-17</c:v>
                  </c:pt>
                  <c:pt idx="9">
                    <c:v>Oct-17</c:v>
                  </c:pt>
                  <c:pt idx="10">
                    <c:v>Nov-17</c:v>
                  </c:pt>
                  <c:pt idx="11">
                    <c:v>Dec-17</c:v>
                  </c:pt>
                  <c:pt idx="12">
                    <c:v>Jan-18</c:v>
                  </c:pt>
                  <c:pt idx="13">
                    <c:v>Feb-18</c:v>
                  </c:pt>
                  <c:pt idx="14">
                    <c:v>Mar-18</c:v>
                  </c:pt>
                  <c:pt idx="15">
                    <c:v>Apr-18</c:v>
                  </c:pt>
                  <c:pt idx="16">
                    <c:v>May-18</c:v>
                  </c:pt>
                  <c:pt idx="17">
                    <c:v>Jun-18</c:v>
                  </c:pt>
                  <c:pt idx="18">
                    <c:v>Jul-18</c:v>
                  </c:pt>
                  <c:pt idx="19">
                    <c:v>Aug-18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127</c:v>
                </c:pt>
                <c:pt idx="1">
                  <c:v>271</c:v>
                </c:pt>
                <c:pt idx="2">
                  <c:v>414</c:v>
                </c:pt>
                <c:pt idx="3">
                  <c:v>391</c:v>
                </c:pt>
                <c:pt idx="4">
                  <c:v>567</c:v>
                </c:pt>
                <c:pt idx="5">
                  <c:v>490</c:v>
                </c:pt>
                <c:pt idx="6">
                  <c:v>566</c:v>
                </c:pt>
                <c:pt idx="7">
                  <c:v>666</c:v>
                </c:pt>
                <c:pt idx="8">
                  <c:v>693</c:v>
                </c:pt>
                <c:pt idx="9">
                  <c:v>758</c:v>
                </c:pt>
                <c:pt idx="10">
                  <c:v>1153</c:v>
                </c:pt>
                <c:pt idx="11">
                  <c:v>843</c:v>
                </c:pt>
                <c:pt idx="12">
                  <c:v>1023</c:v>
                </c:pt>
                <c:pt idx="13">
                  <c:v>1100</c:v>
                </c:pt>
                <c:pt idx="14">
                  <c:v>1133</c:v>
                </c:pt>
                <c:pt idx="15">
                  <c:v>1102</c:v>
                </c:pt>
                <c:pt idx="16">
                  <c:v>1125</c:v>
                </c:pt>
                <c:pt idx="17">
                  <c:v>1109</c:v>
                </c:pt>
                <c:pt idx="18">
                  <c:v>1042</c:v>
                </c:pt>
                <c:pt idx="19">
                  <c:v>1058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(BRL 000s)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garden_tools</c:v>
                  </c:pt>
                  <c:pt idx="1">
                    <c:v>auto</c:v>
                  </c:pt>
                  <c:pt idx="2">
                    <c:v>cool_stuff</c:v>
                  </c:pt>
                  <c:pt idx="3">
                    <c:v>housewares</c:v>
                  </c:pt>
                  <c:pt idx="4">
                    <c:v>furniture_decor</c:v>
                  </c:pt>
                  <c:pt idx="5">
                    <c:v>computers_acc.</c:v>
                  </c:pt>
                  <c:pt idx="6">
                    <c:v>sports_leisure</c:v>
                  </c:pt>
                  <c:pt idx="7">
                    <c:v>bed_bath_table</c:v>
                  </c:pt>
                  <c:pt idx="8">
                    <c:v>watches_gifts</c:v>
                  </c:pt>
                  <c:pt idx="9">
                    <c:v>health_beauty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620</c:v>
                </c:pt>
                <c:pt idx="1">
                  <c:v>648</c:v>
                </c:pt>
                <c:pt idx="2">
                  <c:v>688</c:v>
                </c:pt>
                <c:pt idx="3">
                  <c:v>758</c:v>
                </c:pt>
                <c:pt idx="4">
                  <c:v>880</c:v>
                </c:pt>
                <c:pt idx="5">
                  <c:v>1033</c:v>
                </c:pt>
                <c:pt idx="6">
                  <c:v>1118</c:v>
                </c:pt>
                <c:pt idx="7">
                  <c:v>1225</c:v>
                </c:pt>
                <c:pt idx="8">
                  <c:v>1264</c:v>
                </c:pt>
                <c:pt idx="9">
                  <c:v>1412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8888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bubble3D val="0"/>
            <c:spPr>
              <a:solidFill>
                <a:srgbClr val="2980B9"/>
              </a:solidFill>
              <a:effectLst/>
            </c:spPr>
          </c:dPt>
          <c:dPt>
            <c:idx val="4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One-Timer</c:v>
                </c:pt>
                <c:pt idx="1">
                  <c:v>At-Risk</c:v>
                </c:pt>
                <c:pt idx="2">
                  <c:v>Big Spender</c:v>
                </c:pt>
                <c:pt idx="3">
                  <c:v>Loyal</c:v>
                </c:pt>
                <c:pt idx="4">
                  <c:v>VIP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59500</c:v>
                </c:pt>
                <c:pt idx="1">
                  <c:v>27949</c:v>
                </c:pt>
                <c:pt idx="2">
                  <c:v>3896</c:v>
                </c:pt>
                <c:pt idx="3">
                  <c:v>1979</c:v>
                </c:pt>
                <c:pt idx="4">
                  <c:v>34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· Data Engineering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112,650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Processed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 · delivered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7432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93,400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7432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1.15M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GMV Month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Black Friday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971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Business Recommendations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333756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VIP Retention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at-risk VIPs at 90-day mark before churn</a:t>
            </a:r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Seller Quality Incentive 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commission for top-quartile sellers</a:t>
            </a:r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Category Mix 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marketing spend to Health/Beauty &amp; Bed/Bath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is Brazil's largest SME marketplace — 100K+ orders across 9 fragmented CSV files with no pipeline, no quality controls, and no analytical structure.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data pipeline, executives cannot: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customer segments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revenue trends and seasonal peaks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delivery performance by seller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00584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0" y="1005840"/>
            <a:ext cx="91440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12064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CSV sources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33172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2331720"/>
            <a:ext cx="91440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2064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from top 5% customers (VIP + Big Spender)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365760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3657600"/>
            <a:ext cx="91440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2064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on GCP free tier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234440" cy="1280160"/>
          </a:xfrm>
          <a:prstGeom prst="rect">
            <a:avLst/>
          </a:prstGeom>
          <a:solidFill>
            <a:srgbClr val="444C5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files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1645920"/>
            <a:ext cx="2286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005840"/>
            <a:ext cx="123444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09728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load_olist.py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645920"/>
            <a:ext cx="2286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1234440" cy="1280160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09728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olist_raw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645920"/>
            <a:ext cx="2286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05840"/>
            <a:ext cx="1234440" cy="1280160"/>
          </a:xfrm>
          <a:prstGeom prst="rect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09728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marts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97880" y="1645920"/>
            <a:ext cx="2286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05840"/>
            <a:ext cx="1234440" cy="1280160"/>
          </a:xfrm>
          <a:prstGeom prst="rect">
            <a:avLst/>
          </a:prstGeom>
          <a:solidFill>
            <a:srgbClr val="B075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109728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pass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60920" y="1645920"/>
            <a:ext cx="2286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005840"/>
            <a:ext cx="1234440" cy="1280160"/>
          </a:xfrm>
          <a:prstGeom prst="rect">
            <a:avLst/>
          </a:prstGeom>
          <a:solidFill>
            <a:srgbClr val="7F77D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109728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notebooks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2560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2926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free tier, scales to 10× data automatically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520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DAG-aware transforms, auto-generates lineage docs, ref() prevents silent breaks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Expectations: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HTML audit report — shareable with non-technical stakeholders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74320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148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112,650 rows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total_sale_amount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 · is_late_delivery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 · is_high_value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5603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88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99.4K rows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customer_sk · state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25603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017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3649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 rows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product_sk · category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· weight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188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dim_seller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5361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3.1K rows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seller_sk · city · state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2926080"/>
            <a:ext cx="25603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3017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3649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1.5K rows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date_sk · year · month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· is_weekend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3657600"/>
            <a:ext cx="2743200" cy="1005840"/>
          </a:xfrm>
          <a:prstGeom prst="rect">
            <a:avLst/>
          </a:prstGeom>
          <a:solidFill>
            <a:srgbClr val="8B6914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mart_customer_rfm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93.4K rows · VIP / Loyal / Big Spender / At-Risk / One-Timer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 — 2017–2018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0058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1005840"/>
            <a:ext cx="73152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29400" y="1097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1.15M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29400" y="1536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GMV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29400" y="179222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Black Friday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92240" y="228600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286000"/>
            <a:ext cx="73152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23774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+112%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9400" y="28163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29400" y="307238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2017 → Jan 2018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92240" y="356616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3566160"/>
            <a:ext cx="73152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36576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140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629400" y="40965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29400" y="435254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throughout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Categories by Revenue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943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914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leads at BRL 1.41M with 4.19 avg review score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2194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Watches/Gifts: highest AOV at BRL 216 — premium segment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3017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Bed/Bath/Table: high volume + high revenue — core category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Computers: strong revenue but 3.99 review — quality risk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RFM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960120"/>
            <a:ext cx="42062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63440" y="960120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0060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00600" y="1307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customers · avg LTV BRL 1,000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00600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Personalized loyalty rewards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984248"/>
            <a:ext cx="42062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84248"/>
            <a:ext cx="73152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Spender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00600" y="2331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3,896 customers · avg LTV BRL 928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00600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Upsell premium categories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3008376"/>
            <a:ext cx="42062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3008376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30540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00600" y="3355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27,949 customers · avg LTV BRL 130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00600" y="36027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Win-back at 90-day mark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4032504"/>
            <a:ext cx="42062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4032504"/>
            <a:ext cx="73152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40782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00600" y="43799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59,500 customers · avg LTV BRL 127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0600" y="46268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Re-engagement campaigns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7160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081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408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fact_orders.order_item_sk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81051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8470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847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fact_orders.total_sale_amount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24942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 → dim_customer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68833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27249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2724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 → dim_product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27248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1272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1638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accepted_values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1638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fact_orders.order_status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35661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6027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36027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mart_customer_rfm.customer_unique_id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00507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40416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4041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mart_customer_rfm.rfm_segment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63440" y="137160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137160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74920" y="14081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expect_column_values_to_not_be_null · order_item_sk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181051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09160" y="181051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74920" y="1847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expect_column_values_to_not_be_null · total_sale_amount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24942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09160" y="224942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749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expect_column_values_to_not_be_null · order_purchase_date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68833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09160" y="268833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74920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expect_column_values_to_be_between · review_score (1–5)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12724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312724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74920" y="31638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expect_column_values_to_be_in_set · order_status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356616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09160" y="35661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74920" y="3602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expect_table_row_count_to_be_between · 100K–200K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400507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09160" y="400507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74920" y="4041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expect_column_values_to_not_be_null · customer_id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444398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709160" y="444398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7492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expect_column_values_to_not_be_null · product_id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28/29 dbt tests PASS  ·  8/8 GE expectations PASS  ·  Zero bad data reaches analysts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Orchestration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loads 9 CSVs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BigQuery olist_raw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569K rows 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2011680"/>
            <a:ext cx="2286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005840"/>
            <a:ext cx="1920240" cy="2011680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1444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1828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creates 7 stg_*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· type casting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2011680"/>
            <a:ext cx="2286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005840"/>
            <a:ext cx="1920240" cy="2011680"/>
          </a:xfrm>
          <a:prstGeom prst="rect">
            <a:avLst/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444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builds 6 mart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· derived cols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2011680"/>
            <a:ext cx="2286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005840"/>
            <a:ext cx="1920240" cy="2011680"/>
          </a:xfrm>
          <a:prstGeom prst="rect">
            <a:avLst/>
          </a:prstGeom>
          <a:solidFill>
            <a:srgbClr val="B075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444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1828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runs 8 expectations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runs 28 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saved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  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 time on BigQuery free tier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611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  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— fully within GCP free tier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611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· reproducible · shareable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144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VIP Retention Programme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80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Only 34 VIP customers exist — but avg LTV of BRL 1,000 is 8× the One-Timer segment.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5506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Deploy 90-day win-back emails targeting customers approaching At-Risk threshold.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6184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+BRL 34,000 retained GMV per cohort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914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591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Seller Quality Incentive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706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Top-quartile sellers have 4.2+ review scores. Bottom quartile drag platform NPS down.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8094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Introduce tiered commission: top sellers pay 8% vs standard 12%. Gate with monthly review score threshold.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9443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review score +0.3 points est. = higher conversion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91440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850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Category Mix Rebalance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0325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Health/Beauty (BRL 1.41M) and Bed/Bath (BRL 1.23M) lead revenue with strong review scores.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068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Shift 20% of marketing spend from lower-performing categories to Health/Beauty and Watches/Gifts.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4270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GMV uplift +8–12% based on elasticity model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— Data Engineering Pipeline</dc:title>
  <dc:subject>PptxGenJS Presentation</dc:subject>
  <dc:creator>Lewis</dc:creator>
  <cp:lastModifiedBy>Lewis</cp:lastModifiedBy>
  <cp:revision>1</cp:revision>
  <dcterms:created xsi:type="dcterms:W3CDTF">2026-03-17T05:37:25Z</dcterms:created>
  <dcterms:modified xsi:type="dcterms:W3CDTF">2026-03-17T05:37:25Z</dcterms:modified>
</cp:coreProperties>
</file>